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36576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6576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64008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64008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640080"/>
            <a:ext cx="91440" cy="91440"/>
          </a:xfrm>
          <a:prstGeom prst="ellipse">
            <a:avLst/>
          </a:prstGeom>
          <a:solidFill>
            <a:srgbClr val="1B8CA6">
              <a:alpha val="6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oc_riscv32i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RV32I Processor — Complete Explanation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3657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23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87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Datapath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32-bits wide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423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487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ISA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7919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instructions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487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RTL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clean Verilog modules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4231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487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TB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7687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directed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covers: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1B3A55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76272" y="374904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1B3A55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95344" y="374904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1B3A55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1064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14416" y="374904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1B3A55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33488" y="3749040"/>
            <a:ext cx="1572768" cy="292608"/>
          </a:xfrm>
          <a:prstGeom prst="roundRect">
            <a:avLst>
              <a:gd name="adj" fmla="val 12500"/>
            </a:avLst>
          </a:prstGeom>
          <a:solidFill>
            <a:srgbClr val="1B3A55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208" y="37673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Pipelining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pratik-mhasawade  |  OpenCores  |  RV32I Phase 1–3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This Processor?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4069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79476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1C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computing engine built in Verilog HDL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379476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1C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58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ISA — anyone can build a compatible chip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379476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1C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9169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variant: 32-bit integer instructions, no extensions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00984"/>
            <a:ext cx="379476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1C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75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completes in exactly 1 clock cycle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959352"/>
            <a:ext cx="379476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1C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33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community submission and reuse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4069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99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0208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bus, registers, addresses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135331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399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720840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20208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x0–x31, x0 hardwired to zero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45059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75488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1181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RV32I base ISA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245059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720840" y="2926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31181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RTL files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54787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93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75488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2153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&amp; Data memory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20840" y="3547872"/>
            <a:ext cx="1783080" cy="960120"/>
          </a:xfrm>
          <a:prstGeom prst="rect">
            <a:avLst/>
          </a:prstGeom>
          <a:solidFill>
            <a:srgbClr val="162B4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3593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720840" y="4023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20840" y="421538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testbench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Datapath — How Data 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1371600" cy="640080"/>
          </a:xfrm>
          <a:prstGeom prst="rect">
            <a:avLst/>
          </a:prstGeom>
          <a:solidFill>
            <a:srgbClr val="1B8CA6">
              <a:alpha val="65000"/>
            </a:srgbClr>
          </a:solidFill>
          <a:ln w="254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124712"/>
            <a:ext cx="54864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20240" y="804672"/>
            <a:ext cx="1371600" cy="640080"/>
          </a:xfrm>
          <a:prstGeom prst="rect">
            <a:avLst/>
          </a:prstGeom>
          <a:solidFill>
            <a:srgbClr val="F4A261">
              <a:alpha val="65000"/>
            </a:srgbClr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8046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24712"/>
            <a:ext cx="54864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804672"/>
            <a:ext cx="1371600" cy="640080"/>
          </a:xfrm>
          <a:prstGeom prst="rect">
            <a:avLst/>
          </a:prstGeom>
          <a:solidFill>
            <a:srgbClr val="2DC653">
              <a:alpha val="65000"/>
            </a:srgbClr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8046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124712"/>
            <a:ext cx="54864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804672"/>
            <a:ext cx="1371600" cy="640080"/>
          </a:xfrm>
          <a:prstGeom prst="rect">
            <a:avLst/>
          </a:prstGeom>
          <a:solidFill>
            <a:srgbClr val="48CAE4">
              <a:alpha val="65000"/>
            </a:srgbClr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8046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124712"/>
            <a:ext cx="548640" cy="0"/>
          </a:xfrm>
          <a:prstGeom prst="line">
            <a:avLst/>
          </a:prstGeom>
          <a:noFill/>
          <a:ln w="19050">
            <a:solidFill>
              <a:srgbClr val="1B8C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804672"/>
            <a:ext cx="1371600" cy="640080"/>
          </a:xfrm>
          <a:prstGeom prst="rect">
            <a:avLst/>
          </a:prstGeom>
          <a:solidFill>
            <a:srgbClr val="9B59B6">
              <a:alpha val="65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8046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645920"/>
            <a:ext cx="1463040" cy="621792"/>
          </a:xfrm>
          <a:prstGeom prst="rect">
            <a:avLst/>
          </a:prstGeom>
          <a:solidFill>
            <a:srgbClr val="1B8CA6">
              <a:alpha val="50000"/>
            </a:srgbClr>
          </a:solidFill>
          <a:ln w="1905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program_counter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1463040" cy="621792"/>
          </a:xfrm>
          <a:prstGeom prst="rect">
            <a:avLst/>
          </a:prstGeom>
          <a:solidFill>
            <a:srgbClr val="1B8CA6">
              <a:alpha val="50000"/>
            </a:srgbClr>
          </a:solidFill>
          <a:ln w="19050">
            <a:solidFill>
              <a:srgbClr val="1B8C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instr_mem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74520" y="1645920"/>
            <a:ext cx="1463040" cy="621792"/>
          </a:xfrm>
          <a:prstGeom prst="rect">
            <a:avLst/>
          </a:prstGeom>
          <a:solidFill>
            <a:srgbClr val="F4A261">
              <a:alpha val="50000"/>
            </a:srgbClr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7452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19659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control_unit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4520" y="2514600"/>
            <a:ext cx="1463040" cy="621792"/>
          </a:xfrm>
          <a:prstGeom prst="rect">
            <a:avLst/>
          </a:prstGeom>
          <a:solidFill>
            <a:srgbClr val="F4A261">
              <a:alpha val="50000"/>
            </a:srgbClr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74520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imm_gen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74520" y="3383280"/>
            <a:ext cx="1463040" cy="621792"/>
          </a:xfrm>
          <a:prstGeom prst="rect">
            <a:avLst/>
          </a:prstGeom>
          <a:solidFill>
            <a:srgbClr val="F4A261">
              <a:alpha val="50000"/>
            </a:srgbClr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74520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74520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register_file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0" y="2011680"/>
            <a:ext cx="1463040" cy="621792"/>
          </a:xfrm>
          <a:prstGeom prst="rect">
            <a:avLst/>
          </a:prstGeom>
          <a:solidFill>
            <a:srgbClr val="2DC653">
              <a:alpha val="50000"/>
            </a:srgbClr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7472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0" y="2971800"/>
            <a:ext cx="1463040" cy="621792"/>
          </a:xfrm>
          <a:prstGeom prst="rect">
            <a:avLst/>
          </a:prstGeom>
          <a:solidFill>
            <a:srgbClr val="2DC653">
              <a:alpha val="50000"/>
            </a:srgbClr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4720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74720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branch_unit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74920" y="2011680"/>
            <a:ext cx="1463040" cy="621792"/>
          </a:xfrm>
          <a:prstGeom prst="rect">
            <a:avLst/>
          </a:prstGeom>
          <a:solidFill>
            <a:srgbClr val="48CAE4">
              <a:alpha val="50000"/>
            </a:srgbClr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7492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data_mem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75120" y="2011680"/>
            <a:ext cx="1463040" cy="621792"/>
          </a:xfrm>
          <a:prstGeom prst="rect">
            <a:avLst/>
          </a:prstGeom>
          <a:solidFill>
            <a:srgbClr val="9B59B6">
              <a:alpha val="50000"/>
            </a:srgbClr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7512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 Mux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737360" y="1956816"/>
            <a:ext cx="1371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737360" y="2825496"/>
            <a:ext cx="1371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337560" y="2322576"/>
            <a:ext cx="1371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937760" y="2322576"/>
            <a:ext cx="1371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37960" y="2322576"/>
            <a:ext cx="1371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38160" y="2322576"/>
            <a:ext cx="36576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60120" y="1645920"/>
            <a:ext cx="0" cy="-475488"/>
          </a:xfrm>
          <a:prstGeom prst="line">
            <a:avLst/>
          </a:prstGeom>
          <a:noFill/>
          <a:ln w="12700">
            <a:solidFill>
              <a:srgbClr val="8BADC0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320040" y="1097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pc_next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4251960"/>
            <a:ext cx="201168" cy="20116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Stage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0" y="425196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58568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Stage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03320" y="4251960"/>
            <a:ext cx="201168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50208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94960" y="4251960"/>
            <a:ext cx="201168" cy="2011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41848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86600" y="4251960"/>
            <a:ext cx="201168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33488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0A1F3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Single-cycle: All stages happen combinationally within ONE clock period. On every rising clock edge, PC advances and the next instruction starts.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 Structure — What Each Module Does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7498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oc_riscv32i.v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97480" y="859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[Top-level]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all modules together. Contains all muxes: PC mux, ALU operand muxes, writeback mux. No logic lives here except routing.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45920"/>
            <a:ext cx="64008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program_counter.v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1700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[PC]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993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register. Holds current instruction address. Adds 4 every cycle (word stride). Loads jump/branch target when commanded.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87168"/>
            <a:ext cx="64008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42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instr_mem.v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97480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[IMEM]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read-only ROM. Async read — instruction is available the same cycle as address. Word-aligned: uses addr[11:2].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64008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control_unit.v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[Control]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combinational decoder. Reads opcode/funct3/funct7, outputs 12 control signals. No clock needed — pure logic.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69664"/>
            <a:ext cx="64008" cy="7498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imm_gen.v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9748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[ImmGen]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5171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sign-extends 32-bit immediates from the 32-bit instruction word. Handles all 5 formats: I/S/B/U/J.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804672"/>
            <a:ext cx="64008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859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register_file.v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859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[RegFile]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1152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32×32-bit flip-flop array. Two async read ports (rs1, rs2). One sync write port (rd). x0 always returns 0 — hardwired.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645920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645920"/>
            <a:ext cx="64008" cy="7498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700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alu.v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0" y="1700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[ALU]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1993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Combinational. Performs ADD/SUB/AND/OR/XOR/SLL/SRL/SRA/SLT/SLTU. Generates zero flag (branches), negative, overflow flags.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487168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E07B3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487168"/>
            <a:ext cx="64008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42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branch_unit.v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0" y="2542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[Branch]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BEQ/BNE/BLT/BGE/BLTU/BGEU using ALU flags. Outputs branch_taken. Combinational — no clock.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328416"/>
            <a:ext cx="4160520" cy="749808"/>
          </a:xfrm>
          <a:prstGeom prst="rect">
            <a:avLst/>
          </a:prstGeom>
          <a:solidFill>
            <a:srgbClr val="112233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328416"/>
            <a:ext cx="64008" cy="7498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data_mem.v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4088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[DMEM]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0600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byte-lane RAM. Supports LW/LH/LB/LHU/LBU and SW/SH/SB. Sync read and write. Sign-extends narrow loads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Instruction Encoding — How 32 Bits Carry a Command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is exactly 32 bits. The bit fields tell hardware WHAT to do, WHERE to read, and WHERE to write.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 (register-register)  e.g. ADD x4, x1, x2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371600" cy="502920"/>
          </a:xfrm>
          <a:prstGeom prst="rect">
            <a:avLst/>
          </a:prstGeom>
          <a:solidFill>
            <a:srgbClr val="F4A261">
              <a:alpha val="7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45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31:25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37360" y="1508760"/>
            <a:ext cx="1005840" cy="502920"/>
          </a:xfrm>
          <a:prstGeom prst="rect">
            <a:avLst/>
          </a:prstGeom>
          <a:solidFill>
            <a:srgbClr val="48CAE4">
              <a:alpha val="7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545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7830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24:20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1508760"/>
            <a:ext cx="1005840" cy="502920"/>
          </a:xfrm>
          <a:prstGeom prst="rect">
            <a:avLst/>
          </a:prstGeom>
          <a:solidFill>
            <a:srgbClr val="48CAE4">
              <a:alpha val="7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545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7830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49040" y="1508760"/>
            <a:ext cx="914400" cy="502920"/>
          </a:xfrm>
          <a:prstGeom prst="rect">
            <a:avLst/>
          </a:prstGeom>
          <a:solidFill>
            <a:srgbClr val="F4A261">
              <a:alpha val="7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545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1005840" cy="502920"/>
          </a:xfrm>
          <a:prstGeom prst="rect">
            <a:avLst/>
          </a:prstGeom>
          <a:solidFill>
            <a:srgbClr val="2DC653">
              <a:alpha val="70000"/>
            </a:srgbClr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45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0" y="1508760"/>
            <a:ext cx="1280160" cy="502920"/>
          </a:xfrm>
          <a:prstGeom prst="rect">
            <a:avLst/>
          </a:prstGeom>
          <a:solidFill>
            <a:srgbClr val="1B8CA6">
              <a:alpha val="70000"/>
            </a:srgbClr>
          </a:solidFill>
          <a:ln w="19050">
            <a:solidFill>
              <a:srgbClr val="1B8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545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2011680"/>
            <a:ext cx="0" cy="164592"/>
          </a:xfrm>
          <a:prstGeom prst="line">
            <a:avLst/>
          </a:prstGeom>
          <a:noFill/>
          <a:ln w="10160">
            <a:solidFill>
              <a:srgbClr val="8BAD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0000000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normal op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23160" y="2011680"/>
            <a:ext cx="0" cy="164592"/>
          </a:xfrm>
          <a:prstGeom prst="line">
            <a:avLst/>
          </a:prstGeom>
          <a:noFill/>
          <a:ln w="10160">
            <a:solidFill>
              <a:srgbClr val="8BAD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2011680"/>
            <a:ext cx="0" cy="164592"/>
          </a:xfrm>
          <a:prstGeom prst="line">
            <a:avLst/>
          </a:prstGeom>
          <a:noFill/>
          <a:ln w="10160">
            <a:solidFill>
              <a:srgbClr val="8BAD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2011680"/>
            <a:ext cx="0" cy="164592"/>
          </a:xfrm>
          <a:prstGeom prst="line">
            <a:avLst/>
          </a:prstGeom>
          <a:noFill/>
          <a:ln w="10160">
            <a:solidFill>
              <a:srgbClr val="8BAD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55080" y="2011680"/>
            <a:ext cx="0" cy="164592"/>
          </a:xfrm>
          <a:prstGeom prst="line">
            <a:avLst/>
          </a:prstGeom>
          <a:noFill/>
          <a:ln w="10160">
            <a:solidFill>
              <a:srgbClr val="8BAD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176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0110011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R-type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Instruction Formats at a Glance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017520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017520"/>
            <a:ext cx="64008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0540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71600" y="30540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funct7 | rs2 | rs1 | funct3 | rd | opcode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30540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SUB, AND, OR…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346704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346704"/>
            <a:ext cx="64008" cy="2926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3832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371600" y="33832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imm[11:0] | rs1 | funct3 | rd | opcode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ADDI, LW, JALR, SLLI…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675888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675888"/>
            <a:ext cx="64008" cy="2926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37124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S-type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371600" y="37124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imm[11:5] | rs2 | rs1 | funct3 | imm[4:0] | opcode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37124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SW, SH, SB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4005072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005072"/>
            <a:ext cx="64008" cy="2926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B-type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371600" y="40416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imm[12|10:5] | rs2 | rs1 | funct3 | imm[4:1|11]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BEQ, BNE, BLT, BGE…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334256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4334256"/>
            <a:ext cx="64008" cy="2926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4370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U-type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371600" y="43708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imm[31:12] | rd | opcode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66560" y="4370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LUI, AUIPC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663440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4663440"/>
            <a:ext cx="64008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47000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J-type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371600" y="47000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imm[20|10:1|11|19:12] | rd | opcode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66560" y="47000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Worked Example — ADD x4, x1, x2  (Step by Step)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896112"/>
            <a:ext cx="8284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Assembly:  ADD x4, x1, x2             Meaning: x4 = x1 + x2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Encoding:  0000000 00010 00001 000 00100 0110011       Hex: 0x00208233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206240" cy="1024128"/>
          </a:xfrm>
          <a:prstGeom prst="rect">
            <a:avLst/>
          </a:prstGeom>
          <a:solidFill>
            <a:srgbClr val="112233"/>
          </a:solidFill>
          <a:ln w="15240">
            <a:solidFill>
              <a:srgbClr val="1B8C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591056"/>
            <a:ext cx="365760" cy="36576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Fetch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outputs 0x04  →  IMEM[1] = 0x00208233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counter holds the address 0x04. Instruction memory receives this address and immediately outputs the 32-bit word 0x00208233. This is the binary encoding of ADD x4, x1, x2.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42616"/>
            <a:ext cx="4206240" cy="1024128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52344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734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Decode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900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reads opcode=0110011, funct3=000, funct7=0000000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0954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0110011 → R-type. funct7+funct3 → ADD. Control asserts: reg_write=1, alu_src=0 (use rs2, not immediate), alu_ctrl=0000 (ADD). Register file reads x1=10, x2=20.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803904"/>
            <a:ext cx="4206240" cy="1024128"/>
          </a:xfrm>
          <a:prstGeom prst="rect">
            <a:avLst/>
          </a:prstGeom>
          <a:solidFill>
            <a:srgbClr val="112233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913632"/>
            <a:ext cx="365760" cy="36576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895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Execute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513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receives operand_a=10, operand_b=20, alu_ctrl=ADD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3708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performs 10 + 20 = 30. Result wire carries 0x0000001E. zero flag = 0 (result is not zero). No branch is taken — pc_src stays 00.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481328"/>
            <a:ext cx="4206240" cy="1024128"/>
          </a:xfrm>
          <a:prstGeom prst="rect">
            <a:avLst/>
          </a:prstGeom>
          <a:solidFill>
            <a:srgbClr val="112233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1591056"/>
            <a:ext cx="365760" cy="36576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—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8288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mem_read=0, mem_write=0  →  memory is idle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04825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 not a load or store. Data memory does nothing this cycle. mem_rdata is irrelevant. The ALU result 30 passes straight through the EX/MEM stage toward writeback.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642616"/>
            <a:ext cx="4206240" cy="1024128"/>
          </a:xfrm>
          <a:prstGeom prst="rect">
            <a:avLst/>
          </a:prstGeom>
          <a:solidFill>
            <a:srgbClr val="112233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2752344"/>
            <a:ext cx="365760" cy="3657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734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— Writeback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9900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mem_to_reg=00  →  rd_data = alu_result = 30  →  x4 ← 30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20954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 mux selects ALU result (not memory). reg_write=1. On the next rising clock edge, register x4 is updated to 30. PC advances to 0x08. Done.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40 RV32I Instructions — Grouped by Function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292608"/>
          </a:xfrm>
          <a:prstGeom prst="rect">
            <a:avLst/>
          </a:prstGeom>
          <a:solidFill>
            <a:srgbClr val="F4A261">
              <a:alpha val="5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412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(R-type)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1247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— x+y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— x-y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— shift left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 — shift right (logical)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— shift right (arithmetic)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— signed less than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SLTU — unsigned less than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48C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04672"/>
            <a:ext cx="4206240" cy="292608"/>
          </a:xfrm>
          <a:prstGeom prst="rect">
            <a:avLst/>
          </a:prstGeom>
          <a:solidFill>
            <a:srgbClr val="48CAE4">
              <a:alpha val="5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8412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(R-type)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1247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bitwise AND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— bitwise 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— bitwise XOR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01952"/>
            <a:ext cx="4206240" cy="292608"/>
          </a:xfrm>
          <a:prstGeom prst="rect">
            <a:avLst/>
          </a:prstGeom>
          <a:solidFill>
            <a:srgbClr val="2DC653">
              <a:alpha val="5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938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(I-type)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2219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ADDI, ANDI, ORI, XORI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SLTI, SLTIU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SLLI, SRLI, SRAI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90195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1B8C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901952"/>
            <a:ext cx="4206240" cy="292608"/>
          </a:xfrm>
          <a:prstGeom prst="rect">
            <a:avLst/>
          </a:prstGeom>
          <a:solidFill>
            <a:srgbClr val="1B8CA6">
              <a:alpha val="5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938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Store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22219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LW, LH, LB — load (word/half/byte)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LHU, LBU — load unsigned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SW, SH, SB — store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99232"/>
            <a:ext cx="4206240" cy="292608"/>
          </a:xfrm>
          <a:prstGeom prst="rect">
            <a:avLst/>
          </a:prstGeom>
          <a:solidFill>
            <a:srgbClr val="E63946">
              <a:alpha val="5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358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3192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BEQ, BNE — equal/not-equal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BLT, BGE — signed compare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BLTU, BGEU — unsigned compare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9923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E07B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999232"/>
            <a:ext cx="4206240" cy="292608"/>
          </a:xfrm>
          <a:prstGeom prst="rect">
            <a:avLst/>
          </a:prstGeom>
          <a:solidFill>
            <a:srgbClr val="E07B39">
              <a:alpha val="55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0358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331927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  — jump, save return addr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JALR — jump to register+imm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9651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096512"/>
            <a:ext cx="4206240" cy="292608"/>
          </a:xfrm>
          <a:prstGeom prst="rect">
            <a:avLst/>
          </a:prstGeom>
          <a:solidFill>
            <a:srgbClr val="9B59B6">
              <a:alpha val="5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41330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Immediate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44165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  — load upper 20 bits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AUIPC — PC + upper imm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096512"/>
            <a:ext cx="4206240" cy="1005840"/>
          </a:xfrm>
          <a:prstGeom prst="rect">
            <a:avLst/>
          </a:prstGeom>
          <a:solidFill>
            <a:srgbClr val="112233"/>
          </a:solidFill>
          <a:ln w="15240">
            <a:solidFill>
              <a:srgbClr val="8BAD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096512"/>
            <a:ext cx="4206240" cy="292608"/>
          </a:xfrm>
          <a:prstGeom prst="rect">
            <a:avLst/>
          </a:prstGeom>
          <a:solidFill>
            <a:srgbClr val="8BADC0">
              <a:alpha val="55000"/>
            </a:srgbClr>
          </a:solidFill>
          <a:ln w="12700">
            <a:solidFill>
              <a:srgbClr val="8BAD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1330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18888" y="44165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ECALL — environment call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EBREAK — breakpoint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 Signals — The Switches the Control Unit Flips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instruction, the control unit reads opcode+funct3+funct7 and sets 12 control signals that configure the datapath: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alu_ctrl[3:0]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2252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ALU which operation to perform (ADD=0000, SUB=0001, AND=0010…)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06640" y="1225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ADD→0000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506931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4350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alu_src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543507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ALU operand B: 0=use register rs2,  1=use sign-extended immediate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06640" y="154350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R-type→0, I-type→1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25142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6171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reg_write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186171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write result back to rd in register file. 0 = don't write (store/branch/JAL)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06640" y="186171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ADD→1, SW→0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143354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7993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mem_read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217993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enable data memory read this cycle (load instructions only)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06640" y="217993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LW→1, ADD→0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461565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98141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mem_write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2498141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enable data memory write this cycle (store instructions only)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249814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SW→1, ADD→0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163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mem_to_reg[1:0]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28163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 mux: 00=ALU result, 01=memory read data, 10=PC+4 (return address)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2816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ADD→00, LW→01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097987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134563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pc_src[1:0]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3134563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mux: 00=PC+4, 01=branch target, 10=JAL target, 11=JALR target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313456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ADD→00, JAL→10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416198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5277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31720" y="345277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this is a branch instruction; enables branch_unit to evaluate condition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345277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BEQ→1, ADD→0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734410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7098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imm_sel[2:0]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31720" y="377098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imm_gen which format to extract: 000=I, 001=S, 010=B, 011=U, 100=J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377098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LW→000, SW→001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052621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8919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lui_sel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31720" y="4089197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force ALU operand A to zero (LUI: 0 + imm = imm, placed in upper bits)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408919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LUI→1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370832"/>
            <a:ext cx="8503920" cy="292608"/>
          </a:xfrm>
          <a:prstGeom prst="rect">
            <a:avLst/>
          </a:prstGeom>
          <a:solidFill>
            <a:srgbClr val="112233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074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auipc_sel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331720" y="44074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force ALU operand A to current PC (AUIPC: PC + upper_imm → rd)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4407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AUIPC→1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689043"/>
            <a:ext cx="8503920" cy="292608"/>
          </a:xfrm>
          <a:prstGeom prst="rect">
            <a:avLst/>
          </a:prstGeom>
          <a:solidFill>
            <a:srgbClr val="162B40"/>
          </a:solidFill>
          <a:ln w="12700">
            <a:solidFill>
              <a:srgbClr val="1C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725619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mem_size[2:0]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331720" y="4725619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access width (funct3 passthrough): 000=byte, 001=half, 010=word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06640" y="4725619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LW→010, LB→000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1133856"/>
            <a:ext cx="8503920" cy="256032"/>
          </a:xfrm>
          <a:prstGeom prst="rect">
            <a:avLst/>
          </a:prstGeom>
          <a:solidFill>
            <a:srgbClr val="1B8CA6">
              <a:alpha val="80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11521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331720" y="11521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Do We Need a Pipeline? — The Problem With Single-Cycle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4114800" cy="4069080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77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 Analogy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840480" cy="1417320"/>
          </a:xfrm>
          <a:prstGeom prst="rect">
            <a:avLst/>
          </a:prstGeom>
          <a:solidFill>
            <a:srgbClr val="162B4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Single-cycle (current)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cook does everything alone: takes order → cooks → plates → serves. Next customer waits until the first is COMPLETELY done. Very slow.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840480" cy="1417320"/>
          </a:xfrm>
          <a:prstGeom prst="rect">
            <a:avLst/>
          </a:prstGeom>
          <a:solidFill>
            <a:srgbClr val="162B4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Pipelined (future)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23697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cooks in assembly line. Cook 1 takes order, Cook 2 starts cooking, Cook 3 plates, Cook 4 serves — ALL simultaneously. 4× more customers/hour.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3840480" cy="411480"/>
          </a:xfrm>
          <a:prstGeom prst="rect">
            <a:avLst/>
          </a:prstGeom>
          <a:solidFill>
            <a:srgbClr val="1B3A55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clock speed is SAME. Throughput is ~5× better.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04672"/>
            <a:ext cx="4114800" cy="4069080"/>
          </a:xfrm>
          <a:prstGeom prst="rect">
            <a:avLst/>
          </a:prstGeom>
          <a:solidFill>
            <a:srgbClr val="112233"/>
          </a:solidFill>
          <a:ln w="15240">
            <a:solidFill>
              <a:srgbClr val="1B8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77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Hardware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3840480" cy="987552"/>
          </a:xfrm>
          <a:prstGeom prst="rect">
            <a:avLst/>
          </a:prstGeom>
          <a:solidFill>
            <a:srgbClr val="162B4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62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clock period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18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IF + ID + EX + MEM + WB 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path determines clock. Even NOP wastes full period.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414016"/>
            <a:ext cx="3840480" cy="987552"/>
          </a:xfrm>
          <a:prstGeom prst="rect">
            <a:avLst/>
          </a:prstGeom>
          <a:solidFill>
            <a:srgbClr val="162B4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78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clock period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734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MAX(one stage time)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much shorter. Clock runs 3–5× faster.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529584"/>
            <a:ext cx="3840480" cy="987552"/>
          </a:xfrm>
          <a:prstGeom prst="rect">
            <a:avLst/>
          </a:prstGeom>
          <a:solidFill>
            <a:srgbClr val="162B40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593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improvement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849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Single: 1 instr / 5 clocks → Pipeline: 1 instr / 1 clock (steady state)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4151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pipeline fills, one instruction completes every cycle.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 Timing — 5 Instructions, 5 Stages, Simultaneously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Single-cycle: 5 instructions take 25 clock cycles   |   Pipelined: same 5 instructions take only 9 clock cycles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20240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06624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93008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79392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65776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38544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24928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11312" y="1170432"/>
            <a:ext cx="749808" cy="256032"/>
          </a:xfrm>
          <a:prstGeom prst="rect">
            <a:avLst/>
          </a:prstGeom>
          <a:solidFill>
            <a:srgbClr val="1A3550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11887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1481328"/>
            <a:ext cx="1554480" cy="475488"/>
          </a:xfrm>
          <a:prstGeom prst="rect">
            <a:avLst/>
          </a:prstGeom>
          <a:solidFill>
            <a:srgbClr val="112233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600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I1: ADD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20240" y="1517904"/>
            <a:ext cx="749808" cy="402336"/>
          </a:xfrm>
          <a:prstGeom prst="rect">
            <a:avLst/>
          </a:prstGeom>
          <a:solidFill>
            <a:srgbClr val="1B8CA6">
              <a:alpha val="7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06624" y="1517904"/>
            <a:ext cx="749808" cy="40233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93008" y="1517904"/>
            <a:ext cx="749808" cy="40233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79392" y="1517904"/>
            <a:ext cx="749808" cy="402336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65776" y="1517904"/>
            <a:ext cx="749808" cy="402336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157276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029968"/>
            <a:ext cx="1554480" cy="475488"/>
          </a:xfrm>
          <a:prstGeom prst="rect">
            <a:avLst/>
          </a:prstGeom>
          <a:solidFill>
            <a:srgbClr val="112233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148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I2: LW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06624" y="2066544"/>
            <a:ext cx="749808" cy="402336"/>
          </a:xfrm>
          <a:prstGeom prst="rect">
            <a:avLst/>
          </a:prstGeom>
          <a:solidFill>
            <a:srgbClr val="1B8CA6">
              <a:alpha val="7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6624" y="21214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93008" y="2066544"/>
            <a:ext cx="749808" cy="40233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21214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79392" y="2066544"/>
            <a:ext cx="749808" cy="40233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21214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65776" y="2066544"/>
            <a:ext cx="749808" cy="402336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21214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52160" y="2066544"/>
            <a:ext cx="749808" cy="402336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21214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2578608"/>
            <a:ext cx="1554480" cy="475488"/>
          </a:xfrm>
          <a:prstGeom prst="rect">
            <a:avLst/>
          </a:prstGeom>
          <a:solidFill>
            <a:srgbClr val="112233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697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I3: SUB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93008" y="2615184"/>
            <a:ext cx="749808" cy="402336"/>
          </a:xfrm>
          <a:prstGeom prst="rect">
            <a:avLst/>
          </a:prstGeom>
          <a:solidFill>
            <a:srgbClr val="1B8CA6">
              <a:alpha val="7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93008" y="2670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79392" y="2615184"/>
            <a:ext cx="749808" cy="40233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2670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65776" y="2615184"/>
            <a:ext cx="749808" cy="40233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65776" y="2670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2615184"/>
            <a:ext cx="749808" cy="402336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2670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38544" y="2615184"/>
            <a:ext cx="749808" cy="402336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267004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3127248"/>
            <a:ext cx="1554480" cy="475488"/>
          </a:xfrm>
          <a:prstGeom prst="rect">
            <a:avLst/>
          </a:prstGeom>
          <a:solidFill>
            <a:srgbClr val="112233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246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I4: BEQ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279392" y="3163824"/>
            <a:ext cx="749808" cy="402336"/>
          </a:xfrm>
          <a:prstGeom prst="rect">
            <a:avLst/>
          </a:prstGeom>
          <a:solidFill>
            <a:srgbClr val="1B8CA6">
              <a:alpha val="7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79392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65776" y="3163824"/>
            <a:ext cx="749808" cy="40233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65776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852160" y="3163824"/>
            <a:ext cx="749808" cy="40233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52160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38544" y="3163824"/>
            <a:ext cx="749808" cy="402336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8544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424928" y="3163824"/>
            <a:ext cx="749808" cy="402336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24928" y="321868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0040" y="3675888"/>
            <a:ext cx="1554480" cy="475488"/>
          </a:xfrm>
          <a:prstGeom prst="rect">
            <a:avLst/>
          </a:prstGeom>
          <a:solidFill>
            <a:srgbClr val="112233"/>
          </a:solidFill>
          <a:ln w="6350">
            <a:solidFill>
              <a:srgbClr val="1B8CA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I5: SW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65776" y="3712464"/>
            <a:ext cx="749808" cy="402336"/>
          </a:xfrm>
          <a:prstGeom prst="rect">
            <a:avLst/>
          </a:prstGeom>
          <a:solidFill>
            <a:srgbClr val="1B8CA6">
              <a:alpha val="75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65776" y="3767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852160" y="3712464"/>
            <a:ext cx="749808" cy="402336"/>
          </a:xfrm>
          <a:prstGeom prst="rect">
            <a:avLst/>
          </a:prstGeom>
          <a:solidFill>
            <a:srgbClr val="F4A261">
              <a:alpha val="7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0" y="3767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638544" y="3712464"/>
            <a:ext cx="749808" cy="402336"/>
          </a:xfrm>
          <a:prstGeom prst="rect">
            <a:avLst/>
          </a:prstGeom>
          <a:solidFill>
            <a:srgbClr val="2DC653">
              <a:alpha val="7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3767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24928" y="3712464"/>
            <a:ext cx="749808" cy="402336"/>
          </a:xfrm>
          <a:prstGeom prst="rect">
            <a:avLst/>
          </a:prstGeom>
          <a:solidFill>
            <a:srgbClr val="48CAE4">
              <a:alpha val="7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24928" y="3767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211312" y="3712464"/>
            <a:ext cx="749808" cy="402336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11312" y="37673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0040" y="4297680"/>
            <a:ext cx="201168" cy="20116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6928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011680" y="4297680"/>
            <a:ext cx="201168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58568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703320" y="4297680"/>
            <a:ext cx="201168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50208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394960" y="4297680"/>
            <a:ext cx="201168" cy="2011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41848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086600" y="4297680"/>
            <a:ext cx="201168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33488" y="4297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065776" y="1444752"/>
            <a:ext cx="786384" cy="2798064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5870448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All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active!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0A1F30"/>
          </a:solidFill>
          <a:ln w="10160">
            <a:solidFill>
              <a:srgbClr val="1B8CA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state: from clock 5 onward, one instruction COMPLETES every single clock cycle — this is the power of pipelining.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 Hazards — The Problems Pipelining Creates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1298448"/>
          </a:xfrm>
          <a:prstGeom prst="rect">
            <a:avLst/>
          </a:prstGeom>
          <a:solidFill>
            <a:srgbClr val="112233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29184"/>
          </a:xfrm>
          <a:prstGeom prst="rect">
            <a:avLst/>
          </a:prstGeom>
          <a:solidFill>
            <a:srgbClr val="E63946">
              <a:alpha val="6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HAZARD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859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— Read After Write)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23760" y="85039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C653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868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Forwarding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97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Instruction 2 needs a result that Instruction 1 hasn't finished computing yet.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3931920" cy="53035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544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x1, x2, x3    ← writes x1 in WB (cycle 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x4, x1, x5    ← reads x1 in ID (cycle 3) — TOO EARLY!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19786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Forwarding Unit: bypass the result from EX/MEM stage register directly to ALU input — no stall needed for most cases.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21992"/>
            <a:ext cx="8503920" cy="1298448"/>
          </a:xfrm>
          <a:prstGeom prst="rect">
            <a:avLst/>
          </a:prstGeom>
          <a:solidFill>
            <a:srgbClr val="112233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221992"/>
            <a:ext cx="8503920" cy="329184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768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276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(Special Data Hazard)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26771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C653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286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Stall 1 cycle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15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LW result isn't available until end of MEM stage — forwarding alone can't save this one.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3931920" cy="53035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7180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x1, 0(x2)     ← result ready after MEM stage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x3, x1, x4   ← needs x1 in EX stage — 1 cycle too early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61518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Hazard Detection Unit: inserts 1 stall (bubble/NOP) — freezes PC and IF/ID register for one cycle, gives LW time to finish.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298448"/>
          </a:xfrm>
          <a:prstGeom prst="rect">
            <a:avLst/>
          </a:prstGeom>
          <a:solidFill>
            <a:srgbClr val="112233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39312"/>
            <a:ext cx="8503920" cy="329184"/>
          </a:xfrm>
          <a:prstGeom prst="rect">
            <a:avLst/>
          </a:prstGeom>
          <a:solidFill>
            <a:srgbClr val="48CAE4">
              <a:alpha val="6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94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HAZARD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694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(Branch Hazard)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368503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C653">
              <a:alpha val="7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7033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Flush 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032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Processor fetches the next instruction BEFORE it knows if a branch is taken. If taken, the fetched instruction is wrong.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3931920" cy="53035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891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 x1, x2, +16   ← branch condition known at 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x5, x6, x7   ← already fetched! Wrong if branch taken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0325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Pipeline Flush: when branch is taken, replace the incorrectly-fetched instruction in IF/ID with a NOP (bubble). 1-cycle penalty.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Changes Needed — Single-Cycle → Pipelined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4206240" cy="1298448"/>
          </a:xfrm>
          <a:prstGeom prst="rect">
            <a:avLst/>
          </a:prstGeom>
          <a:solidFill>
            <a:srgbClr val="112233"/>
          </a:solidFill>
          <a:ln w="1651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96112"/>
            <a:ext cx="347472" cy="347472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896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Pipeline Stage Registers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2104" y="11521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pipeline_regs.v  (new)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135331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IF/ID, ID/EX, EX/MEM, MEM/WB registers. Each latches its stage's signals on posedge clk. This is the foundation — without these, nothing else works.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04872" y="1335024"/>
            <a:ext cx="201168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2646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[31:0] IF_ID_instr, IF_ID_pc;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[31:0] ID_EX_rs1, ID_EX_rs2;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[4:0]  ID_EX_rd;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[3:0]  ID_EX_alu_ctrl;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4206240" cy="1298448"/>
          </a:xfrm>
          <a:prstGeom prst="rect">
            <a:avLst/>
          </a:prstGeom>
          <a:solidFill>
            <a:srgbClr val="112233"/>
          </a:solidFill>
          <a:ln w="1651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13432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" y="23134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Forwarding Unit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" y="25694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forwarding_unit.v  (new)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277063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when EX/MEM or MEM/WB stage has a result needed by EX stage. Drives 2-bit mux selects (forward_a, forward_b) to bypass register file.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04872" y="2752344"/>
            <a:ext cx="201168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84378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(EX_MEM_rd == ID_EX_rs1 &amp;&amp; EX_MEM_regwrite)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forward_a = 2'b10;  // from EX/MEM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(MEM_WB_rd == ID_EX_rs1 &amp;&amp; MEM_WB_regwrite)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forward_a = 2'b01;  // from MEM/WB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4206240" cy="1298448"/>
          </a:xfrm>
          <a:prstGeom prst="rect">
            <a:avLst/>
          </a:prstGeom>
          <a:solidFill>
            <a:srgbClr val="112233"/>
          </a:solidFill>
          <a:ln w="16510">
            <a:solidFill>
              <a:srgbClr val="2DC65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30752"/>
            <a:ext cx="347472" cy="34747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" y="37307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Hazard Detection Unit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" y="398678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hazard_unit.v  (new)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9768" y="41879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load-use hazards. When detected: stalls PC (hold), stalls IF/ID (hold), zeroes out ID/EX control signals (insert bubble).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04872" y="4169664"/>
            <a:ext cx="201168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26110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(ID_EX_mem_read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(ID_EX_rd == IF_ID_rs1 ||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ID_EX_rd == IF_ID_rs2)) begin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stall = 1'b1;  // freeze PC &amp; IF/ID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804672"/>
            <a:ext cx="4206240" cy="1298448"/>
          </a:xfrm>
          <a:prstGeom prst="rect">
            <a:avLst/>
          </a:prstGeom>
          <a:solidFill>
            <a:srgbClr val="112233"/>
          </a:solidFill>
          <a:ln w="16510">
            <a:solidFill>
              <a:srgbClr val="48CA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896112"/>
            <a:ext cx="347472" cy="347472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21224" y="896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Branch Flush Logic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21224" y="11521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oc_riscv32i.v  (modify)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8888" y="135331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branch_taken=1 at EX stage, flush the IF/ID register by writing NOP (0x00000013). Adds 1-cycle penalty for taken branches.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93992" y="1335024"/>
            <a:ext cx="201168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42646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IF/ID always block: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(flush)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IF_ID_instr &lt;= 32'h0000_0013; // NOP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IF_ID_instr &lt;= instruction;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221992"/>
            <a:ext cx="4206240" cy="1298448"/>
          </a:xfrm>
          <a:prstGeom prst="rect">
            <a:avLst/>
          </a:prstGeom>
          <a:solidFill>
            <a:srgbClr val="112233"/>
          </a:solidFill>
          <a:ln w="1651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313432"/>
            <a:ext cx="347472" cy="34747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21224" y="23134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Control Signals Through Stages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21224" y="256946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control_unit.v  (modify)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18888" y="277063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 generated in ID must travel with the instruction through stage registers: ID→EX (alu_ctrl, reg_write…) → EX→MEM (mem_read, mem_write…) → MEM→WB (reg_write, mem_to_reg).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93992" y="2752344"/>
            <a:ext cx="2011680" cy="713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84378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ID/EX register carries: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ID_EX_reg_write &lt;= reg_write;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ID_EX_mem_read  &lt;= mem_read;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ID_EX_alu_ctrl  &lt;= alu_ctrl;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Was Built (Phase 1–3)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316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single-cycle RV32I processor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700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base integer instructions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general-purpose registers (x0 hardwired 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immediate formats (I/S/B/U/J)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Byte/halfword/word memory access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 types + JAL + JALR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clean, modular Verilog 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64592" cy="1645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Self-checking testbench (20+ tests)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Upgrade Roadmap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069080" cy="804672"/>
          </a:xfrm>
          <a:prstGeom prst="rect">
            <a:avLst/>
          </a:prstGeom>
          <a:solidFill>
            <a:srgbClr val="112233"/>
          </a:solidFill>
          <a:ln w="15240">
            <a:solidFill>
              <a:srgbClr val="1B8C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298448"/>
            <a:ext cx="64008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362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5-Stage Pipeline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16367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IF/ID, ID/EX, EX/MEM, MEM/WB regs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unit (RAW hazards)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detect + branch flush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194560"/>
            <a:ext cx="4069080" cy="804672"/>
          </a:xfrm>
          <a:prstGeom prst="rect">
            <a:avLst/>
          </a:prstGeom>
          <a:solidFill>
            <a:srgbClr val="112233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194560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258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Cache Hierarchy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2532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I-Cache + D-Cache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controller FSM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penalty handling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090672"/>
            <a:ext cx="4069080" cy="804672"/>
          </a:xfrm>
          <a:prstGeom prst="rect">
            <a:avLst/>
          </a:prstGeom>
          <a:solidFill>
            <a:srgbClr val="112233"/>
          </a:solidFill>
          <a:ln w="15240">
            <a:solidFill>
              <a:srgbClr val="2DC6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090672"/>
            <a:ext cx="64008" cy="8046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Interrupts / CSR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vector, mepc, mcause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IRQ lines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capable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986784"/>
            <a:ext cx="4069080" cy="804672"/>
          </a:xfrm>
          <a:prstGeom prst="rect">
            <a:avLst/>
          </a:prstGeom>
          <a:solidFill>
            <a:srgbClr val="112233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986784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Wishbone SoC Bus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4325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UART, SPI, I2C peripherals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decoder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System-on-Chip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github.com/opencore/opencore_for_edu  |  pratik-mhasawade  |  LGPL v2.1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oc_riscv32i — RV32I Processor Explained</dc:title>
  <dc:subject>PptxGenJS Presentation</dc:subject>
  <dc:creator>pratik-mhasawade</dc:creator>
  <cp:lastModifiedBy>pratik-mhasawade</cp:lastModifiedBy>
  <cp:revision>1</cp:revision>
  <dcterms:created xsi:type="dcterms:W3CDTF">2026-02-23T13:45:26Z</dcterms:created>
  <dcterms:modified xsi:type="dcterms:W3CDTF">2026-02-23T13:45:26Z</dcterms:modified>
</cp:coreProperties>
</file>